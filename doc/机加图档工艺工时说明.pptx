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756" r:id="rId2"/>
    <p:sldId id="765" r:id="rId3"/>
    <p:sldId id="766" r:id="rId4"/>
    <p:sldId id="767" r:id="rId5"/>
    <p:sldId id="768" r:id="rId6"/>
    <p:sldId id="761" r:id="rId7"/>
  </p:sldIdLst>
  <p:sldSz cx="12192000" cy="6858000"/>
  <p:notesSz cx="6858000" cy="91440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等线" panose="02010600030101010101" pitchFamily="2" charset="-122"/>
      <p:regular r:id="rId14"/>
      <p:bold r:id="rId15"/>
    </p:embeddedFont>
    <p:embeddedFont>
      <p:font typeface="黑体" panose="02010609060101010101" pitchFamily="49" charset="-122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B9"/>
    <a:srgbClr val="E0E5ED"/>
    <a:srgbClr val="CBAB08"/>
    <a:srgbClr val="E86249"/>
    <a:srgbClr val="003D71"/>
    <a:srgbClr val="1BA09C"/>
    <a:srgbClr val="3FA8FF"/>
    <a:srgbClr val="259CFF"/>
    <a:srgbClr val="99FFCC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6274" autoAdjust="0"/>
  </p:normalViewPr>
  <p:slideViewPr>
    <p:cSldViewPr snapToGrid="0" showGuides="1">
      <p:cViewPr varScale="1">
        <p:scale>
          <a:sx n="110" d="100"/>
          <a:sy n="110" d="100"/>
        </p:scale>
        <p:origin x="54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568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85547-8BA2-4046-9865-59DD6914420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E6B5D-340B-4415-A307-E3390EB57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3866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2BD30-6D3E-4B50-8408-6B173DE25A1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242C4-1021-4E3E-966C-46FC67F9B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22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0009F4-A70A-43E1-91E4-3BB8482E50E2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839"/>
          <a:stretch/>
        </p:blipFill>
        <p:spPr>
          <a:xfrm>
            <a:off x="0" y="-36089"/>
            <a:ext cx="12219885" cy="68940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E77D82A-744F-42D0-847B-7EBBB1A0B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532" y="609600"/>
            <a:ext cx="6207268" cy="1774369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lang="en-US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Subtitle 6">
            <a:extLst>
              <a:ext uri="{FF2B5EF4-FFF2-40B4-BE49-F238E27FC236}">
                <a16:creationId xmlns:a16="http://schemas.microsoft.com/office/drawing/2014/main" id="{632784F9-02B7-49C2-84FF-4CCF2DCC5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532" y="2464407"/>
            <a:ext cx="5815360" cy="119326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574532" y="239877"/>
            <a:ext cx="25997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Amphenol JET</a:t>
            </a:r>
            <a:endParaRPr lang="zh-CN" altLang="en-US" sz="2400" b="1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4416F3C-10E2-4E37-9C7F-5C1F6BBA95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532" y="5506235"/>
            <a:ext cx="2792210" cy="8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7;p28">
            <a:extLst>
              <a:ext uri="{FF2B5EF4-FFF2-40B4-BE49-F238E27FC236}">
                <a16:creationId xmlns:a16="http://schemas.microsoft.com/office/drawing/2014/main" id="{ABA7AAC5-9A67-41F1-84B6-DE5A9CF817E1}"/>
              </a:ext>
            </a:extLst>
          </p:cNvPr>
          <p:cNvCxnSpPr/>
          <p:nvPr userDrawn="1"/>
        </p:nvCxnSpPr>
        <p:spPr>
          <a:xfrm>
            <a:off x="730250" y="6467051"/>
            <a:ext cx="10718977" cy="12"/>
          </a:xfrm>
          <a:prstGeom prst="straightConnector1">
            <a:avLst/>
          </a:prstGeom>
          <a:noFill/>
          <a:ln w="28575" cap="flat" cmpd="sng">
            <a:solidFill>
              <a:srgbClr val="005CB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E77D82A-744F-42D0-847B-7EBBB1A0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839" y="228601"/>
            <a:ext cx="9479186" cy="4196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CB9556-ABFF-4B3E-9AD6-A49C96A12EFD}"/>
              </a:ext>
            </a:extLst>
          </p:cNvPr>
          <p:cNvCxnSpPr>
            <a:cxnSpLocks/>
          </p:cNvCxnSpPr>
          <p:nvPr userDrawn="1"/>
        </p:nvCxnSpPr>
        <p:spPr>
          <a:xfrm>
            <a:off x="574533" y="0"/>
            <a:ext cx="0" cy="530225"/>
          </a:xfrm>
          <a:prstGeom prst="line">
            <a:avLst/>
          </a:prstGeom>
          <a:ln w="19050">
            <a:gradFill>
              <a:gsLst>
                <a:gs pos="0">
                  <a:srgbClr val="42A3E8"/>
                </a:gs>
                <a:gs pos="100000">
                  <a:srgbClr val="5B62C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AEE98B6-2F48-4143-B7AD-4DE8AD39DE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4480" y="205069"/>
            <a:ext cx="1749648" cy="53731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660DBA-A8CF-47C9-9146-1886F18210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063" y="1006475"/>
            <a:ext cx="10447006" cy="5193447"/>
          </a:xfrm>
          <a:prstGeom prst="rect">
            <a:avLst/>
          </a:prstGeom>
        </p:spPr>
        <p:txBody>
          <a:bodyPr/>
          <a:lstStyle>
            <a:lvl1pPr marL="347663" indent="-347663">
              <a:spcBef>
                <a:spcPts val="800"/>
              </a:spcBef>
              <a:defRPr sz="2200"/>
            </a:lvl1pPr>
            <a:lvl2pPr marL="739775" indent="-282575">
              <a:spcBef>
                <a:spcPts val="800"/>
              </a:spcBef>
              <a:defRPr sz="2000"/>
            </a:lvl2pPr>
            <a:lvl3pPr marL="1143000" indent="-282575">
              <a:spcBef>
                <a:spcPts val="800"/>
              </a:spcBef>
              <a:defRPr sz="1800"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14200" y="175538"/>
            <a:ext cx="9405011" cy="582108"/>
          </a:xfrm>
          <a:prstGeom prst="rect">
            <a:avLst/>
          </a:prstGeom>
          <a:solidFill>
            <a:srgbClr val="005CB9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8659902" y="6464013"/>
            <a:ext cx="3424517" cy="3804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1" dirty="0">
                <a:solidFill>
                  <a:srgbClr val="005CB9"/>
                </a:solidFill>
              </a:rPr>
              <a:t>Amphenol JET   </a:t>
            </a:r>
            <a:r>
              <a:rPr lang="zh-CN" altLang="en-US" sz="1400" b="1" baseline="0" dirty="0">
                <a:solidFill>
                  <a:srgbClr val="005CB9"/>
                </a:solidFill>
              </a:rPr>
              <a:t> </a:t>
            </a:r>
            <a:r>
              <a:rPr lang="en-US" altLang="zh-CN" sz="1400" dirty="0">
                <a:solidFill>
                  <a:srgbClr val="005CB9"/>
                </a:solidFill>
              </a:rPr>
              <a:t>Page </a:t>
            </a:r>
            <a:fld id="{AE495EA2-4243-49B5-B40C-C72BAC5D25F0}" type="slidenum">
              <a:rPr lang="en-US" altLang="zh-CN" sz="1400" smtClean="0">
                <a:solidFill>
                  <a:srgbClr val="005CB9"/>
                </a:solidFill>
              </a:rPr>
              <a:pPr/>
              <a:t>‹#›</a:t>
            </a:fld>
            <a:endParaRPr lang="zh-CN" altLang="en-US" sz="1400" dirty="0">
              <a:solidFill>
                <a:srgbClr val="005CB9"/>
              </a:solidFill>
            </a:endParaRPr>
          </a:p>
        </p:txBody>
      </p:sp>
      <p:sp>
        <p:nvSpPr>
          <p:cNvPr id="10" name="Google Shape;10;p28">
            <a:extLst>
              <a:ext uri="{FF2B5EF4-FFF2-40B4-BE49-F238E27FC236}">
                <a16:creationId xmlns:a16="http://schemas.microsoft.com/office/drawing/2014/main" id="{A666F91E-6643-4E3F-B206-873A5343CF83}"/>
              </a:ext>
            </a:extLst>
          </p:cNvPr>
          <p:cNvSpPr/>
          <p:nvPr userDrawn="1"/>
        </p:nvSpPr>
        <p:spPr>
          <a:xfrm>
            <a:off x="736600" y="6563558"/>
            <a:ext cx="6928224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000"/>
              <a:buFont typeface="Open Sans"/>
              <a:buNone/>
            </a:pPr>
            <a:r>
              <a:rPr lang="en-US" altLang="zh-CN" sz="1000" b="0" i="0" u="none" strike="noStrike" cap="none" dirty="0">
                <a:solidFill>
                  <a:srgbClr val="232323"/>
                </a:solidFill>
                <a:latin typeface="+mn-lt"/>
                <a:ea typeface="Open Sans"/>
                <a:cs typeface="Open Sans"/>
                <a:sym typeface="Open Sans"/>
              </a:rPr>
              <a:t>©2026 Amphenol Communications Solutions— Confidential. Do not copy or distribute without prior written consent</a:t>
            </a:r>
            <a:endParaRPr lang="en-US" altLang="zh-CN" sz="1000" b="0" i="1" u="none" strike="noStrike" cap="none" dirty="0">
              <a:solidFill>
                <a:srgbClr val="232323"/>
              </a:solidFill>
              <a:latin typeface="+mn-lt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5230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screen copy" preserve="1" userDrawn="1">
  <p:cSld name="Blank Blu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3C0E1D7-CFD2-4583-A70F-FBB803C52B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15AFD38-FAA9-4BB9-98EB-0E0C4BB0594D}"/>
              </a:ext>
            </a:extLst>
          </p:cNvPr>
          <p:cNvSpPr/>
          <p:nvPr userDrawn="1"/>
        </p:nvSpPr>
        <p:spPr>
          <a:xfrm>
            <a:off x="0" y="-3484"/>
            <a:ext cx="12192001" cy="6858001"/>
          </a:xfrm>
          <a:prstGeom prst="rect">
            <a:avLst/>
          </a:prstGeom>
          <a:gradFill flip="none" rotWithShape="1">
            <a:gsLst>
              <a:gs pos="5000">
                <a:schemeClr val="accent2">
                  <a:alpha val="90000"/>
                </a:schemeClr>
              </a:gs>
              <a:gs pos="100000">
                <a:schemeClr val="accent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03AF9A-FED9-4DAF-AA8B-DB54A20B3EAD}"/>
              </a:ext>
            </a:extLst>
          </p:cNvPr>
          <p:cNvSpPr/>
          <p:nvPr userDrawn="1"/>
        </p:nvSpPr>
        <p:spPr>
          <a:xfrm>
            <a:off x="-3" y="301"/>
            <a:ext cx="12198096" cy="6858000"/>
          </a:xfrm>
          <a:prstGeom prst="rect">
            <a:avLst/>
          </a:prstGeom>
          <a:gradFill flip="none" rotWithShape="1">
            <a:gsLst>
              <a:gs pos="26000">
                <a:schemeClr val="accent2">
                  <a:alpha val="73000"/>
                </a:schemeClr>
              </a:gs>
              <a:gs pos="86000">
                <a:schemeClr val="accent2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899CBA5-6517-40C8-B318-EBAC0881A0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226" y="2637747"/>
            <a:ext cx="5079548" cy="1582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3B89EFF-3B23-47A8-9EA2-8DD5CBF2A7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891" y="5531757"/>
            <a:ext cx="2792210" cy="859611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574532" y="239877"/>
            <a:ext cx="25997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Amphenol JET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4712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7;p28">
            <a:extLst>
              <a:ext uri="{FF2B5EF4-FFF2-40B4-BE49-F238E27FC236}">
                <a16:creationId xmlns:a16="http://schemas.microsoft.com/office/drawing/2014/main" id="{C6D6405F-A30E-4ADB-A194-5F67DD78F451}"/>
              </a:ext>
            </a:extLst>
          </p:cNvPr>
          <p:cNvCxnSpPr/>
          <p:nvPr userDrawn="1"/>
        </p:nvCxnSpPr>
        <p:spPr>
          <a:xfrm>
            <a:off x="730250" y="6467051"/>
            <a:ext cx="10718977" cy="12"/>
          </a:xfrm>
          <a:prstGeom prst="straightConnector1">
            <a:avLst/>
          </a:prstGeom>
          <a:noFill/>
          <a:ln w="12700" cap="flat" cmpd="sng">
            <a:solidFill>
              <a:srgbClr val="D6D6D6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1" name="Google Shape;10;p28">
            <a:extLst>
              <a:ext uri="{FF2B5EF4-FFF2-40B4-BE49-F238E27FC236}">
                <a16:creationId xmlns:a16="http://schemas.microsoft.com/office/drawing/2014/main" id="{2B371CE4-BC25-42A7-BD4A-9053CC862A90}"/>
              </a:ext>
            </a:extLst>
          </p:cNvPr>
          <p:cNvSpPr/>
          <p:nvPr userDrawn="1"/>
        </p:nvSpPr>
        <p:spPr>
          <a:xfrm>
            <a:off x="736600" y="6563558"/>
            <a:ext cx="6928224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000"/>
              <a:buFont typeface="Open Sans"/>
              <a:buNone/>
            </a:pPr>
            <a:r>
              <a:rPr lang="en-US" altLang="zh-CN" sz="1000" b="0" i="0" u="none" strike="noStrike" cap="none" dirty="0">
                <a:solidFill>
                  <a:srgbClr val="232323"/>
                </a:solidFill>
                <a:latin typeface="+mn-lt"/>
                <a:ea typeface="Open Sans"/>
                <a:cs typeface="Open Sans"/>
                <a:sym typeface="Open Sans"/>
              </a:rPr>
              <a:t>©2026 Amphenol Communications Solutions— Confidential. Do not copy or distribute without prior written consent</a:t>
            </a:r>
            <a:endParaRPr lang="en-US" altLang="zh-CN" sz="1000" b="0" i="1" u="none" strike="noStrike" cap="none" dirty="0">
              <a:solidFill>
                <a:srgbClr val="232323"/>
              </a:solidFill>
              <a:latin typeface="+mn-lt"/>
              <a:ea typeface="Open Sans"/>
              <a:cs typeface="Open Sans"/>
              <a:sym typeface="Open Sans"/>
            </a:endParaRPr>
          </a:p>
        </p:txBody>
      </p:sp>
      <p:sp>
        <p:nvSpPr>
          <p:cNvPr id="44" name="Title Placeholder 1">
            <a:extLst>
              <a:ext uri="{FF2B5EF4-FFF2-40B4-BE49-F238E27FC236}">
                <a16:creationId xmlns:a16="http://schemas.microsoft.com/office/drawing/2014/main" id="{EC130144-AD2D-4481-AD76-E6F8B802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839" y="228601"/>
            <a:ext cx="9479186" cy="4196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2E4A9C-A288-4D0B-8325-82C89BBF9CB8}"/>
              </a:ext>
            </a:extLst>
          </p:cNvPr>
          <p:cNvCxnSpPr>
            <a:cxnSpLocks/>
          </p:cNvCxnSpPr>
          <p:nvPr userDrawn="1"/>
        </p:nvCxnSpPr>
        <p:spPr>
          <a:xfrm>
            <a:off x="574533" y="0"/>
            <a:ext cx="0" cy="530225"/>
          </a:xfrm>
          <a:prstGeom prst="line">
            <a:avLst/>
          </a:prstGeom>
          <a:ln w="19050">
            <a:gradFill>
              <a:gsLst>
                <a:gs pos="0">
                  <a:srgbClr val="42A3E8"/>
                </a:gs>
                <a:gs pos="100000">
                  <a:srgbClr val="5B62C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7128FC2-1FC9-45B4-9975-88CC75F541A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4480" y="205069"/>
            <a:ext cx="1749648" cy="53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2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orient="horz" pos="4080" userDrawn="1">
          <p15:clr>
            <a:srgbClr val="F26B43"/>
          </p15:clr>
        </p15:guide>
        <p15:guide id="5" orient="horz" pos="5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CB6F-F0E6-4AD2-99EF-3F846DA8F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531" y="1602379"/>
            <a:ext cx="9135526" cy="1062446"/>
          </a:xfrm>
        </p:spPr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机加图档工艺工时说明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DDC22-2923-44B5-9E74-6426C05D6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532" y="3091424"/>
            <a:ext cx="5815360" cy="1193260"/>
          </a:xfrm>
        </p:spPr>
        <p:txBody>
          <a:bodyPr/>
          <a:lstStyle/>
          <a:p>
            <a:r>
              <a:rPr lang="zh-CN" altLang="en-US" dirty="0"/>
              <a:t>报  告  人：  唐正予</a:t>
            </a:r>
            <a:endParaRPr lang="en-US" altLang="zh-CN" dirty="0"/>
          </a:p>
          <a:p>
            <a:r>
              <a:rPr lang="zh-CN" altLang="en-US" dirty="0"/>
              <a:t>报告时间：  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295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6839" y="215538"/>
            <a:ext cx="9562190" cy="489856"/>
          </a:xfrm>
        </p:spPr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</a:rPr>
              <a:t>Contents </a:t>
            </a:r>
            <a:r>
              <a:rPr lang="zh-CN" altLang="en-US" b="1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09C5DF-7267-7A00-705C-4AE64DABDB8A}"/>
              </a:ext>
            </a:extLst>
          </p:cNvPr>
          <p:cNvSpPr txBox="1"/>
          <p:nvPr/>
        </p:nvSpPr>
        <p:spPr>
          <a:xfrm>
            <a:off x="1056000" y="1260000"/>
            <a:ext cx="1008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/>
              <a:t>提供的相关文件说明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零件历史工艺工时如何结合及查看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需要进行放电加工的特例说明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32132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6839" y="215538"/>
            <a:ext cx="9562190" cy="48985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提供的相关文件说明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4A7609-F4BF-9D1F-94BA-6EB64F6B1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867" y="1800000"/>
            <a:ext cx="4552267" cy="360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8F26D9-13E3-C1B8-1A68-D2F0215F5B60}"/>
              </a:ext>
            </a:extLst>
          </p:cNvPr>
          <p:cNvSpPr txBox="1"/>
          <p:nvPr/>
        </p:nvSpPr>
        <p:spPr>
          <a:xfrm>
            <a:off x="8518849" y="43713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本文件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62BD692-A599-9832-158F-C390C9247089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840824" y="4556058"/>
            <a:ext cx="678025" cy="13074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0F548AB-450C-E923-D9D3-D117606E49D9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221894" y="5131837"/>
            <a:ext cx="618930" cy="84895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BEE6D89-23BB-941C-64F1-B6D35EA66AFC}"/>
              </a:ext>
            </a:extLst>
          </p:cNvPr>
          <p:cNvSpPr txBox="1"/>
          <p:nvPr/>
        </p:nvSpPr>
        <p:spPr>
          <a:xfrm>
            <a:off x="7840824" y="5032066"/>
            <a:ext cx="388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详细工艺工时中工序名称的对应说明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1BFF08-A18B-2DBB-BB72-4297C1B9264F}"/>
              </a:ext>
            </a:extLst>
          </p:cNvPr>
          <p:cNvSpPr txBox="1"/>
          <p:nvPr/>
        </p:nvSpPr>
        <p:spPr>
          <a:xfrm>
            <a:off x="8518849" y="327678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冲压模具图档及对应的工艺工时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B0C07EC-4835-E3DA-6E7B-06907729D7D1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968343" y="3222861"/>
            <a:ext cx="550506" cy="23859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312741C-A976-2816-2FD1-35841E061EF5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8098971" y="3461452"/>
            <a:ext cx="419878" cy="23859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C50A0B9-5143-F3AD-35C6-FF9E29FE3D8C}"/>
              </a:ext>
            </a:extLst>
          </p:cNvPr>
          <p:cNvSpPr txBox="1"/>
          <p:nvPr/>
        </p:nvSpPr>
        <p:spPr>
          <a:xfrm>
            <a:off x="256831" y="333071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注塑模具图档及对应的工艺工时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20DFFF9-1F22-625E-6C22-963D7A54C79D}"/>
              </a:ext>
            </a:extLst>
          </p:cNvPr>
          <p:cNvCxnSpPr>
            <a:cxnSpLocks/>
          </p:cNvCxnSpPr>
          <p:nvPr/>
        </p:nvCxnSpPr>
        <p:spPr>
          <a:xfrm flipV="1">
            <a:off x="3595664" y="2696547"/>
            <a:ext cx="497366" cy="81883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27A503E-7900-FFC1-492E-05E2E378105A}"/>
              </a:ext>
            </a:extLst>
          </p:cNvPr>
          <p:cNvCxnSpPr>
            <a:cxnSpLocks/>
          </p:cNvCxnSpPr>
          <p:nvPr/>
        </p:nvCxnSpPr>
        <p:spPr>
          <a:xfrm>
            <a:off x="3595664" y="3515377"/>
            <a:ext cx="379177" cy="63229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EB10ABD0-C83C-D5D9-A276-35EF3FD8DC28}"/>
              </a:ext>
            </a:extLst>
          </p:cNvPr>
          <p:cNvSpPr txBox="1"/>
          <p:nvPr/>
        </p:nvSpPr>
        <p:spPr>
          <a:xfrm>
            <a:off x="5795346" y="1551123"/>
            <a:ext cx="360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注塑模具图档</a:t>
            </a:r>
            <a:r>
              <a:rPr lang="en-US" altLang="zh-CN" dirty="0"/>
              <a:t>2D</a:t>
            </a:r>
            <a:r>
              <a:rPr lang="zh-CN" altLang="en-US" dirty="0"/>
              <a:t>图纸均有</a:t>
            </a:r>
            <a:r>
              <a:rPr lang="en-US" altLang="zh-CN" dirty="0"/>
              <a:t>3D</a:t>
            </a:r>
            <a:r>
              <a:rPr lang="zh-CN" altLang="en-US" dirty="0"/>
              <a:t>文件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1AB52BD-D3A0-08F5-9643-01D25CD70E08}"/>
              </a:ext>
            </a:extLst>
          </p:cNvPr>
          <p:cNvSpPr txBox="1"/>
          <p:nvPr/>
        </p:nvSpPr>
        <p:spPr>
          <a:xfrm>
            <a:off x="8329907" y="2657786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/>
              <a:t>冲压模具图档仅有</a:t>
            </a:r>
            <a:r>
              <a:rPr lang="en-US" altLang="zh-CN" dirty="0"/>
              <a:t>2D</a:t>
            </a:r>
            <a:r>
              <a:rPr lang="zh-CN" altLang="en-US" dirty="0"/>
              <a:t>图纸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3A1C164-A382-7BE3-788E-F14EF6D75881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7910028" y="2842452"/>
            <a:ext cx="419879" cy="369332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90F433D-1F05-3535-99BA-FB58681D254E}"/>
              </a:ext>
            </a:extLst>
          </p:cNvPr>
          <p:cNvCxnSpPr>
            <a:cxnSpLocks/>
          </p:cNvCxnSpPr>
          <p:nvPr/>
        </p:nvCxnSpPr>
        <p:spPr>
          <a:xfrm flipH="1">
            <a:off x="5795346" y="1920455"/>
            <a:ext cx="782736" cy="73336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24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0376536-24DF-C3F2-5D27-4DBB632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0" y="828000"/>
            <a:ext cx="7883102" cy="55800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6839" y="215538"/>
            <a:ext cx="9562190" cy="48985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零件历史工艺工时如何结合及查看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6208D3-A37F-BDB8-46F3-68BF03732A78}"/>
              </a:ext>
            </a:extLst>
          </p:cNvPr>
          <p:cNvSpPr txBox="1"/>
          <p:nvPr/>
        </p:nvSpPr>
        <p:spPr>
          <a:xfrm>
            <a:off x="6096001" y="3522306"/>
            <a:ext cx="185368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图纸中图号与表格中件号一一对应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B4E0E96-F691-DA72-A1CF-1FDBBE40E19E}"/>
              </a:ext>
            </a:extLst>
          </p:cNvPr>
          <p:cNvCxnSpPr>
            <a:cxnSpLocks/>
          </p:cNvCxnSpPr>
          <p:nvPr/>
        </p:nvCxnSpPr>
        <p:spPr>
          <a:xfrm>
            <a:off x="7217638" y="4273420"/>
            <a:ext cx="433464" cy="164218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5164B99A-6EC5-6F5A-9DBD-2BD79D006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638" y="1454606"/>
            <a:ext cx="4619189" cy="1222198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5652506-90C3-8663-05DB-DF93585E75D8}"/>
              </a:ext>
            </a:extLst>
          </p:cNvPr>
          <p:cNvCxnSpPr>
            <a:cxnSpLocks/>
          </p:cNvCxnSpPr>
          <p:nvPr/>
        </p:nvCxnSpPr>
        <p:spPr>
          <a:xfrm flipV="1">
            <a:off x="7863570" y="1707502"/>
            <a:ext cx="645932" cy="2013806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56DB9CA-C1E5-69DA-1504-2DADD543CD13}"/>
              </a:ext>
            </a:extLst>
          </p:cNvPr>
          <p:cNvSpPr txBox="1"/>
          <p:nvPr/>
        </p:nvSpPr>
        <p:spPr>
          <a:xfrm>
            <a:off x="9257410" y="3259643"/>
            <a:ext cx="203932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表格中同一件号表示同一个零件，工序为从上至下排列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DFD9623-BBF4-4313-D970-5963BF00C852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0277071" y="2399685"/>
            <a:ext cx="527778" cy="859958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4BCA0F1-EA0B-F2BF-DB8F-FA4A76D82F6F}"/>
              </a:ext>
            </a:extLst>
          </p:cNvPr>
          <p:cNvCxnSpPr>
            <a:cxnSpLocks/>
          </p:cNvCxnSpPr>
          <p:nvPr/>
        </p:nvCxnSpPr>
        <p:spPr>
          <a:xfrm flipH="1" flipV="1">
            <a:off x="9527232" y="2481943"/>
            <a:ext cx="749838" cy="77770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38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6839" y="215538"/>
            <a:ext cx="9562190" cy="48985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需要进行</a:t>
            </a:r>
            <a:r>
              <a:rPr lang="en-US" altLang="zh-CN" b="1" dirty="0">
                <a:solidFill>
                  <a:schemeClr val="bg1"/>
                </a:solidFill>
              </a:rPr>
              <a:t>CNC</a:t>
            </a:r>
            <a:r>
              <a:rPr lang="zh-CN" altLang="en-US" b="1" dirty="0">
                <a:solidFill>
                  <a:schemeClr val="bg1"/>
                </a:solidFill>
              </a:rPr>
              <a:t>精密放电加工的特例说明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4DC9AE-531B-0714-54DD-BFBAF5018B2F}"/>
              </a:ext>
            </a:extLst>
          </p:cNvPr>
          <p:cNvSpPr txBox="1"/>
          <p:nvPr/>
        </p:nvSpPr>
        <p:spPr>
          <a:xfrm>
            <a:off x="626839" y="2340000"/>
            <a:ext cx="108000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/>
              <a:t>SMX0100-F20A</a:t>
            </a:r>
            <a:r>
              <a:rPr lang="zh-CN" altLang="en-US" dirty="0"/>
              <a:t>这个零件主体有四个加工工艺，按顺序为</a:t>
            </a:r>
            <a:r>
              <a:rPr lang="en-US" altLang="zh-CN" dirty="0"/>
              <a:t>MS2</a:t>
            </a:r>
            <a:r>
              <a:rPr lang="zh-CN" altLang="en-US" dirty="0"/>
              <a:t>→</a:t>
            </a:r>
            <a:r>
              <a:rPr lang="en-US" altLang="zh-CN" dirty="0"/>
              <a:t>TG2</a:t>
            </a:r>
            <a:r>
              <a:rPr lang="zh-CN" altLang="en-US" dirty="0"/>
              <a:t>→</a:t>
            </a:r>
            <a:r>
              <a:rPr lang="en-US" altLang="zh-CN" dirty="0"/>
              <a:t>EDM1</a:t>
            </a:r>
            <a:r>
              <a:rPr lang="zh-CN" altLang="en-US" dirty="0"/>
              <a:t>→</a:t>
            </a:r>
            <a:r>
              <a:rPr lang="en-US" altLang="zh-CN" dirty="0"/>
              <a:t>EDM2</a:t>
            </a:r>
            <a:r>
              <a:rPr lang="zh-CN" altLang="en-US" dirty="0"/>
              <a:t>，其中</a:t>
            </a:r>
            <a:r>
              <a:rPr lang="en-US" altLang="zh-CN" dirty="0"/>
              <a:t>EDM2</a:t>
            </a:r>
            <a:r>
              <a:rPr lang="zh-CN" altLang="en-US" dirty="0"/>
              <a:t>为精密</a:t>
            </a:r>
            <a:r>
              <a:rPr lang="en-US" altLang="zh-CN" dirty="0"/>
              <a:t>CNC</a:t>
            </a:r>
            <a:r>
              <a:rPr lang="zh-CN" altLang="en-US" dirty="0"/>
              <a:t>电极放电加工，加工用到两个铜电极，电极零件号为</a:t>
            </a:r>
            <a:r>
              <a:rPr lang="en-US" altLang="zh-CN" dirty="0"/>
              <a:t>SMX0100-F20A=1=3</a:t>
            </a:r>
            <a:r>
              <a:rPr lang="zh-CN" altLang="en-US" dirty="0"/>
              <a:t>和</a:t>
            </a:r>
            <a:r>
              <a:rPr lang="en-US" altLang="zh-CN" dirty="0"/>
              <a:t>SMX0100-F20A=2=3</a:t>
            </a:r>
            <a:r>
              <a:rPr lang="zh-CN" altLang="en-US" dirty="0"/>
              <a:t>，所以这个编号为</a:t>
            </a:r>
            <a:r>
              <a:rPr lang="en-US" altLang="zh-CN" dirty="0"/>
              <a:t>SMX0100-F20A</a:t>
            </a:r>
            <a:r>
              <a:rPr lang="zh-CN" altLang="en-US" dirty="0"/>
              <a:t>的零件的总加工工艺路径树状图如下：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F189B0C-519F-1743-236D-66AADAAEA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39" y="827999"/>
            <a:ext cx="4291201" cy="144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FD163F7-132E-8627-1484-46A5A27A2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040" y="827999"/>
            <a:ext cx="6890321" cy="1440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8370DF5-06E6-AFFE-1017-9B1B7BA55E02}"/>
              </a:ext>
            </a:extLst>
          </p:cNvPr>
          <p:cNvSpPr/>
          <p:nvPr/>
        </p:nvSpPr>
        <p:spPr>
          <a:xfrm>
            <a:off x="626839" y="4562669"/>
            <a:ext cx="2295331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SMX0100-F20A</a:t>
            </a:r>
            <a:r>
              <a:rPr lang="zh-CN" altLang="en-US" dirty="0">
                <a:solidFill>
                  <a:schemeClr val="tx1"/>
                </a:solidFill>
              </a:rPr>
              <a:t>主体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C8D664-F4D0-A51F-C284-E82E6DF7C745}"/>
              </a:ext>
            </a:extLst>
          </p:cNvPr>
          <p:cNvSpPr/>
          <p:nvPr/>
        </p:nvSpPr>
        <p:spPr>
          <a:xfrm>
            <a:off x="3419804" y="4562668"/>
            <a:ext cx="1012238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MS2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973DC4-B0CE-74ED-2615-A2178633C53A}"/>
              </a:ext>
            </a:extLst>
          </p:cNvPr>
          <p:cNvSpPr/>
          <p:nvPr/>
        </p:nvSpPr>
        <p:spPr>
          <a:xfrm>
            <a:off x="4929676" y="4562666"/>
            <a:ext cx="1012238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TG2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0F3888-A0A6-A8AC-E919-5B6F59D918A0}"/>
              </a:ext>
            </a:extLst>
          </p:cNvPr>
          <p:cNvSpPr/>
          <p:nvPr/>
        </p:nvSpPr>
        <p:spPr>
          <a:xfrm>
            <a:off x="6439548" y="4562666"/>
            <a:ext cx="1012238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EDM1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8BC6A1-5F04-A94A-7BEF-F9AC53669EFB}"/>
              </a:ext>
            </a:extLst>
          </p:cNvPr>
          <p:cNvSpPr/>
          <p:nvPr/>
        </p:nvSpPr>
        <p:spPr>
          <a:xfrm>
            <a:off x="7949420" y="4562665"/>
            <a:ext cx="1012238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EDM2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66A677-3CAC-A9B6-5E44-CD3D4ACF553A}"/>
              </a:ext>
            </a:extLst>
          </p:cNvPr>
          <p:cNvSpPr/>
          <p:nvPr/>
        </p:nvSpPr>
        <p:spPr>
          <a:xfrm>
            <a:off x="6439548" y="5516818"/>
            <a:ext cx="1012238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CNC3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7FFC1D-67B2-B3F8-A0BC-9F9F918179B3}"/>
              </a:ext>
            </a:extLst>
          </p:cNvPr>
          <p:cNvSpPr/>
          <p:nvPr/>
        </p:nvSpPr>
        <p:spPr>
          <a:xfrm>
            <a:off x="6439548" y="3656406"/>
            <a:ext cx="1012238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CNC3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38763C-2BC0-3BBC-3583-022F7D1686E2}"/>
              </a:ext>
            </a:extLst>
          </p:cNvPr>
          <p:cNvSpPr/>
          <p:nvPr/>
        </p:nvSpPr>
        <p:spPr>
          <a:xfrm>
            <a:off x="4929676" y="3656406"/>
            <a:ext cx="1012238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CNC3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A8245C-7144-1BCE-06F2-DA2B41B318A3}"/>
              </a:ext>
            </a:extLst>
          </p:cNvPr>
          <p:cNvSpPr/>
          <p:nvPr/>
        </p:nvSpPr>
        <p:spPr>
          <a:xfrm>
            <a:off x="1516359" y="3656405"/>
            <a:ext cx="2915683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SMX0100-F20A=1=3</a:t>
            </a:r>
            <a:r>
              <a:rPr lang="zh-CN" altLang="en-US" dirty="0">
                <a:solidFill>
                  <a:schemeClr val="tx1"/>
                </a:solidFill>
              </a:rPr>
              <a:t>电极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63CCF8-9373-678E-E8F0-E2686914BB09}"/>
              </a:ext>
            </a:extLst>
          </p:cNvPr>
          <p:cNvSpPr/>
          <p:nvPr/>
        </p:nvSpPr>
        <p:spPr>
          <a:xfrm>
            <a:off x="3026231" y="5516817"/>
            <a:ext cx="2915683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SMX0100-F20A=2=3</a:t>
            </a:r>
            <a:r>
              <a:rPr lang="zh-CN" altLang="en-US" dirty="0">
                <a:solidFill>
                  <a:schemeClr val="tx1"/>
                </a:solidFill>
              </a:rPr>
              <a:t>电极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C9FF925-4645-2949-86B3-5DB5E0040E3F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2922170" y="4819260"/>
            <a:ext cx="497634" cy="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16BC953-0B75-0DA4-BD1B-3BBD66BF692C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4432042" y="4819258"/>
            <a:ext cx="497634" cy="2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935F8E2-355D-BB3D-CF6D-3F8D2E93C7F1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5941914" y="4819258"/>
            <a:ext cx="497634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37476A8-6400-1BAC-6B39-D03500CF5B6E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7451786" y="4819257"/>
            <a:ext cx="497634" cy="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23CB4FA-4C17-7153-9FBE-4ECD803298A3}"/>
              </a:ext>
            </a:extLst>
          </p:cNvPr>
          <p:cNvCxnSpPr>
            <a:cxnSpLocks/>
            <a:stCxn id="23" idx="3"/>
            <a:endCxn id="22" idx="1"/>
          </p:cNvCxnSpPr>
          <p:nvPr/>
        </p:nvCxnSpPr>
        <p:spPr>
          <a:xfrm>
            <a:off x="4432042" y="3912997"/>
            <a:ext cx="497634" cy="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F74A3E7-FC88-E27B-52DD-F00672EE7CD4}"/>
              </a:ext>
            </a:extLst>
          </p:cNvPr>
          <p:cNvCxnSpPr>
            <a:cxnSpLocks/>
            <a:stCxn id="22" idx="3"/>
            <a:endCxn id="21" idx="1"/>
          </p:cNvCxnSpPr>
          <p:nvPr/>
        </p:nvCxnSpPr>
        <p:spPr>
          <a:xfrm>
            <a:off x="5941914" y="3912998"/>
            <a:ext cx="497634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19DBA20-85B0-B557-D47C-9C03221952AB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5941914" y="5773409"/>
            <a:ext cx="497634" cy="1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71963548-6302-EE3A-A78E-9CF4C70AF89E}"/>
              </a:ext>
            </a:extLst>
          </p:cNvPr>
          <p:cNvCxnSpPr>
            <a:stCxn id="20" idx="3"/>
            <a:endCxn id="19" idx="2"/>
          </p:cNvCxnSpPr>
          <p:nvPr/>
        </p:nvCxnSpPr>
        <p:spPr>
          <a:xfrm flipV="1">
            <a:off x="7451786" y="5075848"/>
            <a:ext cx="1003753" cy="697562"/>
          </a:xfrm>
          <a:prstGeom prst="bentConnector2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0800CC33-A036-E3F4-B950-D4C5BE6D372B}"/>
              </a:ext>
            </a:extLst>
          </p:cNvPr>
          <p:cNvCxnSpPr>
            <a:cxnSpLocks/>
            <a:stCxn id="21" idx="3"/>
            <a:endCxn id="19" idx="0"/>
          </p:cNvCxnSpPr>
          <p:nvPr/>
        </p:nvCxnSpPr>
        <p:spPr>
          <a:xfrm>
            <a:off x="7451786" y="3912998"/>
            <a:ext cx="1003753" cy="649667"/>
          </a:xfrm>
          <a:prstGeom prst="bentConnector2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82C7D1D-1F54-7321-C32C-A6CE89BBA1F2}"/>
              </a:ext>
            </a:extLst>
          </p:cNvPr>
          <p:cNvSpPr txBox="1"/>
          <p:nvPr/>
        </p:nvSpPr>
        <p:spPr>
          <a:xfrm>
            <a:off x="8326194" y="3336577"/>
            <a:ext cx="2480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SMX0100-F20A=1=3</a:t>
            </a:r>
            <a:r>
              <a:rPr lang="zh-CN" altLang="en-US" dirty="0">
                <a:solidFill>
                  <a:schemeClr val="tx1"/>
                </a:solidFill>
              </a:rPr>
              <a:t>电极放电加工用时</a:t>
            </a:r>
            <a:r>
              <a:rPr lang="en-US" altLang="zh-CN" dirty="0">
                <a:solidFill>
                  <a:schemeClr val="tx1"/>
                </a:solidFill>
              </a:rPr>
              <a:t>3.5h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FE45299-E6BC-87B0-BDDE-707C56562199}"/>
              </a:ext>
            </a:extLst>
          </p:cNvPr>
          <p:cNvSpPr txBox="1"/>
          <p:nvPr/>
        </p:nvSpPr>
        <p:spPr>
          <a:xfrm>
            <a:off x="8326195" y="5514847"/>
            <a:ext cx="24800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SMX0100-F20A=2=3</a:t>
            </a:r>
            <a:r>
              <a:rPr lang="zh-CN" altLang="en-US" dirty="0">
                <a:solidFill>
                  <a:schemeClr val="tx1"/>
                </a:solidFill>
              </a:rPr>
              <a:t>电极放电加工用时</a:t>
            </a:r>
            <a:r>
              <a:rPr lang="en-US" altLang="zh-CN" dirty="0">
                <a:solidFill>
                  <a:schemeClr val="tx1"/>
                </a:solidFill>
              </a:rPr>
              <a:t>2.0h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F5BDF9F-38B0-4A89-AB30-B32227A97B26}"/>
              </a:ext>
            </a:extLst>
          </p:cNvPr>
          <p:cNvSpPr txBox="1"/>
          <p:nvPr/>
        </p:nvSpPr>
        <p:spPr>
          <a:xfrm>
            <a:off x="5071829" y="4184622"/>
            <a:ext cx="67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1.5h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EA98236-98AD-7786-BA35-74A1CA23A0B8}"/>
              </a:ext>
            </a:extLst>
          </p:cNvPr>
          <p:cNvSpPr txBox="1"/>
          <p:nvPr/>
        </p:nvSpPr>
        <p:spPr>
          <a:xfrm>
            <a:off x="6609562" y="4181461"/>
            <a:ext cx="67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1.5h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BB426CA-44D5-7298-50F0-CDE7D16766B1}"/>
              </a:ext>
            </a:extLst>
          </p:cNvPr>
          <p:cNvSpPr txBox="1"/>
          <p:nvPr/>
        </p:nvSpPr>
        <p:spPr>
          <a:xfrm>
            <a:off x="6609562" y="6030000"/>
            <a:ext cx="67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0.7h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A7813A6-EF20-84BF-EA2E-27794629074F}"/>
              </a:ext>
            </a:extLst>
          </p:cNvPr>
          <p:cNvSpPr txBox="1"/>
          <p:nvPr/>
        </p:nvSpPr>
        <p:spPr>
          <a:xfrm>
            <a:off x="5101053" y="5084561"/>
            <a:ext cx="67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2.5</a:t>
            </a:r>
            <a:r>
              <a:rPr lang="en-US" altLang="zh-CN" dirty="0">
                <a:solidFill>
                  <a:schemeClr val="tx1"/>
                </a:solidFill>
              </a:rPr>
              <a:t>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BF6C903-87AD-4206-F05B-8C45A6026A12}"/>
              </a:ext>
            </a:extLst>
          </p:cNvPr>
          <p:cNvSpPr txBox="1"/>
          <p:nvPr/>
        </p:nvSpPr>
        <p:spPr>
          <a:xfrm>
            <a:off x="6609561" y="5084561"/>
            <a:ext cx="67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4.0</a:t>
            </a:r>
            <a:r>
              <a:rPr lang="en-US" altLang="zh-CN" dirty="0">
                <a:solidFill>
                  <a:schemeClr val="tx1"/>
                </a:solidFill>
              </a:rPr>
              <a:t>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4FC2528-4FE4-725A-5A16-4057BB156F48}"/>
              </a:ext>
            </a:extLst>
          </p:cNvPr>
          <p:cNvSpPr txBox="1"/>
          <p:nvPr/>
        </p:nvSpPr>
        <p:spPr>
          <a:xfrm>
            <a:off x="3589582" y="5084561"/>
            <a:ext cx="67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4.0</a:t>
            </a:r>
            <a:r>
              <a:rPr lang="en-US" altLang="zh-CN" dirty="0">
                <a:solidFill>
                  <a:schemeClr val="tx1"/>
                </a:solidFill>
              </a:rPr>
              <a:t>h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A5A417B-3B19-A986-A587-9A696ECFCBBE}"/>
              </a:ext>
            </a:extLst>
          </p:cNvPr>
          <p:cNvSpPr/>
          <p:nvPr/>
        </p:nvSpPr>
        <p:spPr>
          <a:xfrm>
            <a:off x="9459293" y="4562665"/>
            <a:ext cx="1756104" cy="51318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主体加工完成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B2F702A-5076-59C7-8DFA-BB10DE3C63E2}"/>
              </a:ext>
            </a:extLst>
          </p:cNvPr>
          <p:cNvCxnSpPr>
            <a:cxnSpLocks/>
            <a:stCxn id="19" idx="3"/>
            <a:endCxn id="61" idx="1"/>
          </p:cNvCxnSpPr>
          <p:nvPr/>
        </p:nvCxnSpPr>
        <p:spPr>
          <a:xfrm>
            <a:off x="8961658" y="4819257"/>
            <a:ext cx="49763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6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456BD1A-BC79-4B4B-89BF-FF4D102FA2F8}"/>
              </a:ext>
            </a:extLst>
          </p:cNvPr>
          <p:cNvSpPr txBox="1">
            <a:spLocks/>
          </p:cNvSpPr>
          <p:nvPr/>
        </p:nvSpPr>
        <p:spPr>
          <a:xfrm>
            <a:off x="2829626" y="2864840"/>
            <a:ext cx="6532747" cy="76256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4400" dirty="0">
                <a:solidFill>
                  <a:schemeClr val="bg1"/>
                </a:solidFill>
              </a:rPr>
              <a:t>Thanks for your attention!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52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S Template 2022">
  <a:themeElements>
    <a:clrScheme name="Amphenol Brand Colors and Complimentary">
      <a:dk1>
        <a:sysClr val="windowText" lastClr="000000"/>
      </a:dk1>
      <a:lt1>
        <a:sysClr val="window" lastClr="FFFFFF"/>
      </a:lt1>
      <a:dk2>
        <a:srgbClr val="005CB9"/>
      </a:dk2>
      <a:lt2>
        <a:srgbClr val="E0E5ED"/>
      </a:lt2>
      <a:accent1>
        <a:srgbClr val="1BA09C"/>
      </a:accent1>
      <a:accent2>
        <a:srgbClr val="003D71"/>
      </a:accent2>
      <a:accent3>
        <a:srgbClr val="E86249"/>
      </a:accent3>
      <a:accent4>
        <a:srgbClr val="CBAB08"/>
      </a:accent4>
      <a:accent5>
        <a:srgbClr val="7F7F7F"/>
      </a:accent5>
      <a:accent6>
        <a:srgbClr val="3F3F3F"/>
      </a:accent6>
      <a:hlink>
        <a:srgbClr val="BFBFBF"/>
      </a:hlink>
      <a:folHlink>
        <a:srgbClr val="7F7F7F"/>
      </a:folHlink>
    </a:clrScheme>
    <a:fontScheme name="Custom 5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10494</TotalTime>
  <Words>257</Words>
  <Application>Microsoft Office PowerPoint</Application>
  <PresentationFormat>宽屏</PresentationFormat>
  <Paragraphs>39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黑体</vt:lpstr>
      <vt:lpstr>Arial</vt:lpstr>
      <vt:lpstr>Open Sans</vt:lpstr>
      <vt:lpstr>Calibri</vt:lpstr>
      <vt:lpstr>ACS Template 2022</vt:lpstr>
      <vt:lpstr>机加图档工艺工时说明</vt:lpstr>
      <vt:lpstr>Contents 目录</vt:lpstr>
      <vt:lpstr>提供的相关文件说明</vt:lpstr>
      <vt:lpstr>零件历史工艺工时如何结合及查看</vt:lpstr>
      <vt:lpstr>需要进行CNC精密放电加工的特例说明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Alamgir Hossain</dc:creator>
  <cp:lastModifiedBy>admin</cp:lastModifiedBy>
  <cp:revision>356</cp:revision>
  <dcterms:created xsi:type="dcterms:W3CDTF">2021-11-23T12:07:23Z</dcterms:created>
  <dcterms:modified xsi:type="dcterms:W3CDTF">2026-10-15T07:11:43Z</dcterms:modified>
</cp:coreProperties>
</file>